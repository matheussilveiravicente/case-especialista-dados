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Duas perguntas guiam a apresentação: dá para prever a venda da próxima semana com confiança, e vale construir um score de banners com IA agora? Vou responder as duas com dado e com as decisões explícitas.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Começo pela resposta para que a banca saiba aonde vou chegar; o resto da apresentação é a evidência. Os três temas pedidos na análise (preço médio, dia da semana e variação ao longo do dia) e as três perguntas do modelo (por que o algoritmo, como validei, o que pesou) estão no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insight, o que a base tem de problema. Os três tratamentos estão documentados nas decisões técnicas. Ponto de atenção: o dado é agregado por hora, canal e categoria; não há cliente, SKU, margem nem calendário de campanhas.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Novembro sozinho tem 26% da receita e 34% dos pedidos dos 8 meses; não é só a Black Friday. Dezembro fatura R$ 13 a 16 milhões por semana, contra 7 a 12 no início do ano: a compra de presente acontece antes do dia 25. Fora das datas não há tendência de longo prazo (teste ADF), mas o nível semanal varia bastante, de R$ 7 a 16 milhões. Para o modelo, isso significa: acertar as viradas de nível importa mais do que acertar o dia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Excluí novembro porque a Black Friday caiu numa sexta e distorce o índice. O padrão vale para todas as categorias: não existe dia de categoria. Gifts é a mais sensível, com domingo 30% abaixo: compra de presente é planejada durante a semana. O potencial em reais: o domingo fatura R$ 1,36 milhão contra R$ 1,70 milhão de um dia médio e R$ 1,88 milhão da sexta. Não é dinheiro garantido, é o tamanho do vale; como o App segura melhor o fim de semana, a comunicação de domingo rende mais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de 3h a 5h, subida a partir das 7h, platô das 10h às 15h. O Site é um pouco mais concentrado de manhã; o App sustenta a noite. A hipótese inicial de que o Site teria pico no almoço e o App só à noite não se confirmou: os dois picam às 11h.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Novembro compra volume com desconto; o resto do ano vende mais caro por pedido. O Site tem ticket cerca de 10% maior e desconto 5 pontos menor que o App em todos os meses. Premissa declarada: tratei a receita como líquida do desconto, porque a outra leitura dá taxas acima de 100% em algumas categorias.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Regressão diária de cada indicador contra a taxa de desconto, controlando dia da semana e mês, com erros robustos. O desconto vem com mais pedidos, mas de itens mais baratos: a receita líquida cresce bem menos que os pedidos. O cenário de 5 pontos extrapola o efeito de 1 ponto: a receita sobe cerca de 8%, mas o volume de itens, que carrega o custo, sobe cerca de 19%. Se o custo do produto passar de uns 43% da receita líquida, o lucro cai. É uma regra de bolso para levar ao comercial, que tem a margem real. Não há sinal de ressaca nas semanas seguintes às promoções.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e-commerce mostra para quem o consumidor está comprando. Uso prático: banner, CRM e estoque por destinatário do presente, começando cerca de uma semana antes da data, quando a curva acelera. O ticket também sobe por mix: o preço cheio por item foi de R$ 80 em novembro para R$ 93 em junho, com pico em maio, mês do Dia das Mães. O teste natural seria o Dia dos Pais, que a base não cobre e que já passou sem que eu recebesse o dado; fica a Black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existe para a banca reconhecer a própria pergunta. O enunciado diz, com todas as letras, que mais importante do que a acurácia é entender o pensamento analítico, e lista estas três perguntas. Então eu as nomeio e respondo na ordem, em vez de fazer vocês procurarem a resposta no meio da apresentação. Uma observação sobre a terceira: ela é a que mais interessa ao negócio, porque as variáveis que pesam são as alavancas que vocês controlam. Se o que move a previsão é a proximidade de uma data de presente, isso vira calendário de campanha e de estoque, não só número de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escolher algoritmo, olhei o formato do problema. O modelo certo precisa funcionar com pouco dado, entender calendário e eventos e dizer o que pesou na previsão. Prever 7 dias à frente, e não amanhã, é o que dá tempo de escalar equipe, estoque e campanha; por isso o modelo só usa calendário, datas comerciais e o histórico de uma semana atrás. Sobre os clássicos: a tentação é descartar ARIMA dizendo que a série não é estável, mas de dezembro a junho ela é estacionária, então o argumento não se sustenta. Preferi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eu sorteasse dias para teste, o modelo veria a semana seguinte durante o treino e a acurácia ficaria falsamente boa. O walk-forward reproduz o uso real: no dia em que faço a previsão, só sei o que aconteceu até ali. As semanas de janeiro a maio se alternam entre ajuste de parâmetros e avaliação, e junho ficou fora do ajuste inteiro. Sendo preciso: junho não é um teste virgem. Houve uma primeira rodada do torneio em que eu o usei como diagnóstico e, a partir do que vi, corrigi falhas do pipeline e fixei a regra de decisão para a rodada final. Está registrado nas decisões técnicas. É por isso que apresento as 16 semanas como evidência principal, e não só junho.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régua é o mais simples possível: se o modelo não bate repetir a semana passada, não serve. Uso as 16 semanas, e não só junho, porque cinco semanas não separam modelos parecidos. Três leituras. Primeira: os clássicos não são ruins, o SARIMA é o melhor no total da semana, que é a unidade de planejamento; então não dá para descartá-los com conversa, e por isso eu os medi. Segunda: eles preveem abaixo da venda real de forma sistemática, de 6,6% a 13,3%, e no walk-forward isso vale até em dia normal, de −7,9% a −13,4%; para dimensionar estoque, é pior do que o erro sugere. Terceira: só as árvores ficam perto de zero de viés em dia normal. Se perguntarem pelo XGBoost, a resposta é direta e já está na tela: ele é levemente melhor no total da semana nos três recortes, o LightGBM é melhor no dia e no primeiro dia do horizonte no walk-forward, e o intervalo da diferença contém zero em todos eles. Não tenho evidência para dizer que um é melhor; tenho razão de engenharia para entregar o LightGBM, e trocar não custa nada, porque são as mesmas features, as mesmas semanas e a mesma validação. Também testei combinar o total do SARIMA com o perfil diário do LightGBM: dá o melhor erro diário do torneio, 20,6%, mas herda o viés de 8,8%. Está no apêndice.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importante do modelo, e responde antes que perguntem: por que contrariar a própria regra? Porque a regra respondia a pergunta errada. Ela testava se eu conseguia provar diferença com cinco semanas de teste, e cinco semanas só provariam uma diferença de dezenove pontos; a distância real entre bons modelos é de um a três. Então o empate que ela declara é falta de medida, não semelhança. A pergunta certa é: o modelo é no mínimo tão bom quanto a régua, e traz algo que ela não traz? Nas 16 semanas, o LightGBM é no máximo 2,7 pontos pior que a média móvel no pior caso do intervalo, tem viés perto de zero e diz quais variáveis moveram a previsão, que é o que o enunciado pede. A honestidade aqui é parte da resposta: eu podia ter escondido que a regra apontou a média móvel. Prefiro mostrar a regra, mostrar por que ela é cega e deixar o gatilho de reversão combinado.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prova o que eu afirmei na abertura: o ganho sobre a média simples aparece quando a venda muda de patamar. A virada de patamar é a mudança do nível semanal em relação à semana anterior; cortei na mediana, oito semanas de cada lado, e o corte foi feito sobre a mudança observada do nível, não sobre o erro. Três leituras. Primeira, e eu concedo de saída: na semana calma a média móvel é melhor que o LightGBM, 14,3% contra 17,7%. Segunda: na virada ela quase dobra, 36,9% contra 25,8%, e é exatamente aí que a operação erra caro, porque é quando o patamar muda e a capacidade reservada não acompanha. Terceira: isso não é um recorte de calendário, é de comportamento. Data comemorativa é só uma das coisas que viram o patamar; ressaca de promoção é outra. Sobre o viés: o número perto de zero que mostrei no slide anterior é a média de dois erros opostos, e prefiro dizer isso antes que me perguntem. A leitura operacional é que semana de evento precisa de acompanhamento humano, não de confiança cega na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leituras. Primeira, a unidade certa: no dia o erro é 22%, mas na semana os erros se compensam e caem para 14% nas 16 semanas; em junho, 10%. Rotulo sempre o recorte, porque junho é o melhor deles e seria fácil mostrar só ele. Segunda, o tamanho em reais: cerca de 1,1 milhão numa semana cheia de junho, que fatura perto de 10,8 milhões. Terceira, e é a que a operação usa: não planeje pelo erro médio, planeje pelo pior caso provável. Em quatro de cada cinco semanas o erro fica abaixo de 28,7%; essa é a folga de capacidade que eu pediria para a logística reservar. A faixa diária existe, mas é larga demais para escalar equipe por dia: ela serve para mostrar que o dia isolado é incerto, e é justamente por isso que a decisão é semanal.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medidas que se complementam. O SHAP mostra o que o modelo usa: o nível da semana anterior e o canal lideram. A permutação mostra o que o modelo precisa para acertar: embaralhando os dias até a data de presente, o erro de junho é o que mais piora, porque acertar a proximidade dos Namorados foi decisivo. O canal pesa pouco na permutação porque a participação do canal na semana anterior carrega a mesma informação. O efeito salário da análise não aparece como variável isolada; a posição no mês pode estar absorvendo parte dele, mas é hipótese. O gráfico decompõe uma previsão: o App no Dia dos Namorados, que o modelo subestimou porque aprendeu datas de presente com um único Dia das Mães. Legenda completa: média_7 = receita média dos últimos 7 dias (o nível em que a loja está rodando); dias_até_presente = quantos dias faltam para a próxima data de presente (Mães, Namorados, Natal, Pais); lag_7 = venda do mesmo dia uma semana atrás; canal = App ou Site; lag_14 = venda de 14 dias atrás; desconto_recente = desconto médio praticado nos últimos dias; posição_no_mês = dia do mês (1 a 31), captura efeito salário. Esses pesos mudam a cada previsão: no Namorados, dias_até_presente pesa muito; numa segunda de março, quase não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o pipeline agora seria otimizar uma métrica que ninguém escolheu. O entusiasmo do hackathon é um ativo da cultura de inovação; a mensagem para o time é: vamos chegar lá por um caminho seguro e mensurável.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primeira conversa: reconheço a iniciativa; separo o problema da ferramenta, a ferramenta não está homologada, mas o problema continua de pé; fazemos juntos as perguntas de escopo; combinamos o que começa já; e definimos papéis e prazos. A homologação existe por bons motivos: banners têm pessoas, material não lançado e dados de performance. Enquanto não há aprovação, testes só com banners já publicados. Se não houver dado de performance por banner, a PoC vira um catálogo visual descritivo, que já tem valor para a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de banner pode significar coisas muito diferentes; escolher um é a principal saída do escopo. A provocação vem direto da Seção 1: o desconto traz volume com ticket menor, então otimizar clique pode otimizar a coisa errada. Outras perguntas para o time: o App é 79% da receita, o banner foi pensado para ele? O banner é bonito ou só bem posicionado? O horário muda o público: pico às 11h e App também à noite, então rotação por horário é um teste barato.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Embedding: transformar cada banner em uma impressão digital numérica, em que banners parecidos ficam perto. O CLIP coloca imagem e texto no mesmo espaço, o que permite perguntar se um banner mostra promoção sem treinar nada. Como explicar o CLIP em trinta segundos, se for novidade para eles: é um modelo que a OpenAI treinou mostrando quatrocentos milhões de imagens junto com a legenda que as acompanhava na internet; de tanto ver par depois de par, ele aprendeu a colocar a foto e a frase no mesmo mapa numérico, de modo que a imagem de um frasco e as palavras "frasco de perfume" caem perto uma da outra. Na prática isso significa que eu posso escrever a pergunta em texto e deixar ele medir a distância até a imagem, sem treinar nada e sem rotular nada. Por que escolhi ele e não uma API de LLM multimodal: licença MIT, roda dentro do nosso ambiente, o criativo não lançado nunca sai da empresa, e o custo é de operação e não de licença por chamada. Em escala entram busca por similaridade e uma API para checar criativos antes de publicar. Um LLM multimodal homologado pode complementar depois com uma crítica em linguagem natural frente ao guia de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testar a peça central sem usar imagem da marca, gerei 32 banners por código, com cada atributo do gabarito sorteado de forma independente, seed 42. Treino com 24 e teste nos 8 restantes, em 4 rodadas, com o particionamento repetido 20 vezes. A leitura é a mesma da Seção 1: antes do modelo caro, a régua simples. E aqui a régua ganha — medidas de brilho, contraste, cor e contagem de pixels acertam fundo, preço e frasco em 100%, justamente onde o embedding global fica perto do acaso. O CLIP só se paga em mensagem, que é o atributo que exige entender o que o banner diz, e ali ele vai a 100% com 24 rótulos contra 55,5% da heurística. Em cor dominante os três empatam. Se perguntarem por que preço e frasco ficam perto do acaso no CLIP: no desenho anterior esses dois atributos eram derivados por paridade dos demais, o que criava correlações que se invertiam entre treino e teste; com sorteios independentes o probe voltou para 54,7% e 51,6%, que é o valor honesto. Fundo tem algum sinal visual, 71,9%, mas a faixa vai de 53,1% a 87,5% — amostra pequena. Limite da demo: banner sintético é mais simples que o real e não há dado de clique, então ela valida componentes da arquitetura, não o score. A conclusão prática para o MVP é que o pipeline precisa de OCR e de medidas simples ao lado do embedding, não do embedding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de prometer um ganho, mostro três cenários sobre margem, não receita, com custo recorrente. A receita mensal vem da base do case, cerca de 61 milhões; custos e margem são premissas a substituir pelos números de Finanças. O ponto principal é o pessimista: os critérios de parada em cada etapa limitam a perda ao custo do MVP. E sou honesto sobre o teste: 0,1% da receita total não aparece num A/B de banner; por isso o teste mede um indicador intermediário detectável, com a receita por impressão como guarda, e o ganho financeiro se confirma acompanhando o espaço por algumas semanas. O pedido à liderança: dados de banners, um sponsor para o A/B, aval para a homologação e 7 a 8 semanas de um cientista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Viés merece destaque: se as campanhas passadas favoreceram um perfil de modelo, corpo ou faixa de preço, um score treinado nelas reproduz isso. Por isso a auditoria por atributo e o score como apoio, nunca como critério único de veto.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Prazos relativos de propósito: contam da aprovação do escopo, não de uma data de calendário que envelhece. Do lado da previsão, a Black Friday é o teste que importa, porque é a semana de maior virada de patamar do ano e o modelo nunca foi avaliado nela — a base começa em novembro e não há histórico anterior para treinar. Margem, campanhas, mídia e ruptura são os dados que a empresa já tem e que transformariam as hipóteses de consumo em respostas; é o item de melhor retorno porque não depende de esperar histórico. Do lado do scoring, a ordem é deliberada: a sessão de escopo vem primeiro porque sem decisão e sem KPI o resto é construir no escuro, e a trilha de homologação corre em paralelo para não ser bloqueio. Sobre o Dia dos Pais: eu havia fixado o gatilho nele e na Black Friday; ele já passou e eu não tenho o dado, então digo isso em vez de deixar o gatilho pela metade.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prováveis: por que não o desconto da semana prevista (seria vazamento; uso o da semana anterior); se a regra dizia média móvel, por que o LightGBM (a regra mediu prova estatística com 5 semanas; a decisão olha o custo do erro nos eventos); como garante que não há vazamento (teste de corrupção em 27 semanas e auditoria independente). O repositório é público: tem os quatro notebooks, o código em src com testes, as métricas em CSV e o documento de decisões técnicas. Cada notebook tem um badge que abre no Colab e roda sozinho, sem instalar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Comecei com uma lista de hipóteses e deixei o dado decidir. As descartadas são tão úteis quanto as confirmadas: evitam, por exemplo, uma estratégia de comunicação por categoria e dia da semana que não tem base. A do estorno merece um comentário, porque é a que mais engana: em valor absoluto, perfumaria feminina responde por 27% dos estornos e parece a culpada. Mas ela é 24% da receita — dividindo o estorno pela receita da própria categoria, todas ficam entre 4,0% e 4,9%, e os dois canais também. Não há culpado: os 4% são linha de base do negócio, troca e arrependimento, não defeito concentrado. Quem olhar só o valor absoluto vai abrir uma investigação que não tem o que 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boosting: a primeira árvore faz uma previsão grosseira, a segunda aprende o erro da primeira, e assim por diante. O XGBoost cresce cada árvore nível por nível; o LightGBM cresce pela folha que mais reduz o erro, por isso é mais rápido, mas exige limites para não decorar com pouco dado. Com o nosso volume, a acurácia empata nas 16 semanas e o intervalo da diferença cruza zero; a escolha é de engenharia, não de acurácia. Sobre a combinação: usar o total semanal do SARIMA e distribuir pelos dias com o perfil do LightGBM dá o melhor erro diário do torneio, 20,6% contra 21,7%. Não a entrego porque ela herda o viés do SARIMA, prevendo 8,8% abaixo da venda de forma sistemática, e porque um ganho de um ponto sem significância não paga carregar dois modelos. Ela volta à mesa se um fator de correção estimado só nas semanas de ajuste derrubar o viés sem matar o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pouco histórico, o maior risco de um forecast é parecer bom no teste pelos motivos errados. Sobre as duas rodadas: eu podia ter dito que junho nunca foi tocado, e é o que normalmente se diz. Não é verdade no meu caso. Usei junho uma vez, na rodada 1, para diagnosticar falhas do pipeline; o que vi me levou a corrigir variáveis que extrapolavam, a incluir feriados que faltavam e a fixar a regra de decisão. Só então rodei a versão final, que é a desta apresentação. Declarar isso é o que torna os outros números confiáveis, e é a razão de eu apoiar a conclusão nas 16 semanas em vez de só em junho.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reserva: só mostrar se a pergunta vier. Outras respostas prontas: vazamento, corrompi todos os dados posteriores à data de previsão nas 27 semanas e nenhuma variável mudou; desconto como variável, uso só o desconto da semana anterior, porque o da semana prevista não é conhecido no momento da previsão; combinação SARIMA mais LightGBM, testada, melhor erro diário do torneio, mas herda o viés e o ganho não é significativo.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reserva, para quando perguntarem como cheguei nos três números do slide de contexto. Três pontos que valem dizer em voz alta. Primeiro, a categoria ilegível: não usei dicionário de categorias nem regex contra uma lista, porque lista envelhece e quebra quando entra categoria nova. O teste é se o valor tem alguma letra — um valor sem nenhuma letra não pode ser nome de categoria, e isso vale para qualquer catálogo futuro. Segundo, a ordem importa no estorno: eu somo o estorno por linha original antes de agrupar a categoria ilegível, senão o estorno de uma linha ilegível se perderia dentro do bucket "Não mapeada". Terceiro, os 9,4%: o universo é sobre as oito categorias válidas, não sobre as nove, porque a "Não mapeada" só existe onde o dado falhou e incluí-la inflaria artificialmente o número de ausentes. Se eu contasse com ela, daria 15,2%, e seria um número pior e menos honesto. E um detalhe que costuma passar: os 4,3% da receita negativa são sobre a receita, não sobre as linhas; em linhas são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preço médio por categoria e canal pedido no case. Perfumaria soma mais da metade da receita. Gifts tem o maior preço por item e um dos menores descontos, coerente com compra por ocasião. Facial tem o maior desconto da base, 65%, num item de R$ 19: candidato a revisão. O App é mais promocional que o Site e já concentra quase 80% da receita. Os estornos, cerca de 4% ao mês, são estruturais e merecem investigação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amarra a Seção 1: a previsão só vale se mudar uma decisão. Cada linha liga uma área a uma informação que produzimos. São propostas para validar com as áreas, não processos que conheço por dentro. A pergunta para a banca é: qual dessas decisões hoje é tomada sem previsão?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Separo o que melhora com tempo do que melhora com pedido. Com tempo: a avaliação do início da série, e aqui eu prefiro dar o número em vez de deixar como buraco. Estendi o walk-forward para trás até o limite da causalidade, com janela mínima de treino declarada. Dezembro entrou, inclusive a semana do Natal: quatro semanas, de 32 a 53 dias de treino, e o erro do LightGBM fica cerca de 50% acima do das 16 semanas, 32,8% contra 21,7%. Duas ressalvas que eu digo junto, porque sem elas o número engana: são poucas semanas, sem intervalo de confiança, e os hiperparâmetros foram ajustados em folds de 2026, posteriores a essas semanas, então o número é otimista e não é comparável ao das 16 semanas. Novembro não entrou de jeito nenhum: não existe origem de previsão anterior dentro da base, e a semana da Black Friday precisaria treinar com 25 dias. Isso não é limitação do método, é da série, que começa em primeiro de novembro — e é por isso que o gatilho de reversão nomeia a Black Friday. Também a segunda ocorrência de cada data, que é a causa do erro que sobrou, e aí Prophet e mais harmônicos de Fourier passam a caber. Com pedido, e isso pode começar amanhã: margem, calendário de campanhas, mídia e ruptura. Note que a ordem importa — pedir dado novo rende mais rápido que esperar histórico, e é o primeiro item dos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Faço a distinção que importa numa entrevista: o que eu construí e o que eu proporia. À esquerda, nada é promessa. A validação walk-forward já é a cadência de produção — retreinar a cada semana com tudo até ali não é um plano, é o que rodou 27 vezes para gerar estes números. O teste de vazamento é automatizado e roda junto com os outros; não é uma conferência que eu fiz uma vez. E as seeds fixas existem porque previsão que muda de execução para execução não serve para planejar. À direita, nada está feito, e eu não vou citar nome de ferramenta que não operei: o que importa é a função. Agendamento é transformar um comando em tarefa com alerta. Monitoramento tem gatilho numérico, e eu usaria a folga de 28,7% que já mostrei, por duas semanas seguidas para não reagir a ruído. Entrega é a parte que mais muda o resultado e menos aparece em case: previsão que fica em notebook não vira decisão. E o erro por antecedência justifica o único refinamento de modelagem que eu faria antes de pedir dado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2A2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31998"/>
            <a:ext cx="10566400" cy="401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5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2A2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31998"/>
            <a:ext cx="10566400" cy="401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TÉCNICO · ESPECIALISTA DE DADOS I · E-COMMERCE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72256"/>
            <a:ext cx="10883392" cy="200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Prever a próxima semana de vendas e decidir o que vale construir com IA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401264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Seção 1: análise e previsão da receita diária · Seção 2: arquitetura de IA para análise de banners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Matheus Silveira Vicente · 8 de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RESPOSTAS, ANTES DE TUDO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Duas perguntas, duas respostas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5175250" cy="2101850"/>
          </a:xfrm>
          <a:prstGeom prst="roundRect">
            <a:avLst>
              <a:gd name="adj" fmla="val 468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40280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Dá para prever a próxima semana?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2585720"/>
            <a:ext cx="480334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Sim, com erro de 14% no total da semana nas 16 semanas previstas, 10% em junho. O ganho sobre uma média simples aparece quando a venda muda de patamar, em datas e ressacas. Recomendo o LightGBM, com a média móvel como régua.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84375"/>
            <a:ext cx="5175250" cy="2101850"/>
          </a:xfrm>
          <a:prstGeom prst="roundRect">
            <a:avLst>
              <a:gd name="adj" fmla="val 468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240280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Vale construir o score de banners?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6680" y="2585720"/>
            <a:ext cx="480334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Ainda não como está. Primeiro a decisão e o KPI (receita por impressão), depois PoC e MVP com A/B. A ferramenta não homologada é trilha de compliance, não bloqueio.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3434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 3 min · Dados e consumo 11 min · Previsão 12 min · Seção 2 9 min · Próximos passos e perguntas 10 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base: 242 dias, 89 mil linhas, três armadilhas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3380264" cy="2609850"/>
          </a:xfrm>
          <a:prstGeom prst="roundRect">
            <a:avLst>
              <a:gd name="adj" fmla="val 3771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40280"/>
            <a:ext cx="295450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880" y="2844800"/>
            <a:ext cx="2954507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 receita com categoria ilegível (um número aleatório no lugar do nome). Agrupada como “Não mapeada”: entra no total, sai da análise por categoria.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1984375"/>
            <a:ext cx="3380343" cy="2609850"/>
          </a:xfrm>
          <a:prstGeom prst="roundRect">
            <a:avLst>
              <a:gd name="adj" fmla="val 3771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24028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−R$ 21 mi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694" y="2844800"/>
            <a:ext cx="2954589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3.513 linhas de receita negativa, 4,3% da receita. Tratadas como estornos: ficam na receita líquida. </a:t>
            </a:r>
            <a:r>
              <a:rPr lang="en-US" sz="14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Uniformes:</a:t>
            </a: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4,3% no App e 4,2% no Site, e de 4,0% a 4,9% em toda categoria.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1984375"/>
            <a:ext cx="3380343" cy="2609850"/>
          </a:xfrm>
          <a:prstGeom prst="roundRect">
            <a:avLst>
              <a:gd name="adj" fmla="val 3771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240280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9,4%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1587" y="2844800"/>
            <a:ext cx="2954589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 combinações hora × canal × categoria não existem. São vendas zero (madrugada, categorias pequenas): grade completada com zeros.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8514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01/11/2025 a 30/06/2026 · R$ 490 mi · 6,5 mi de pedidos · </a:t>
            </a:r>
            <a:r>
              <a:rPr lang="en-US" sz="14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R$ 373 mi (76%), ticket R$ 73</a:t>
            </a: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4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 R$ 117 mi (24%), ticket R$ 82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OS DADOS MOSTRAM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13792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Novembro é outro negócio; depois, as datas mandam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985000" cy="276225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</p:spPr>
      </p:sp>
      <p:pic>
        <p:nvPicPr>
          <p:cNvPr id="5" name="Image 0" descr="Receita diária de novembro de 2025 a junho de 2026, com picos na Black Friday, no 11.11, na véspera do Dia das Mães e no Dia dos Namorados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819150" y="1987550"/>
            <a:ext cx="6972300" cy="2749550"/>
          </a:xfrm>
          <a:prstGeom prst="roundRect">
            <a:avLst>
              <a:gd name="adj" fmla="val 161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978650" cy="2755900"/>
          </a:xfrm>
          <a:prstGeom prst="roundRect">
            <a:avLst>
              <a:gd name="adj" fmla="val 1728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1981200"/>
            <a:ext cx="0" cy="72009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55000" y="1981200"/>
            <a:ext cx="321792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26% da receita em um mês promocional; Black Friday = 7,5× um dia típico.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15300" y="2853691"/>
            <a:ext cx="0" cy="72009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0" y="2853691"/>
            <a:ext cx="321792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Natal vende o mês, não o dia: semanas de R$ 13–16 mi em dezembro; o dia 25 é o pior da base.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15300" y="3726180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5000" y="3726180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 das Mães vende na véspera (sábado), não no domingo.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15300" y="435864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5000" y="4358641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tendência de longo prazo: o nível muda com as datas.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POTENCIAL POR DIA DA SEMANA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Sexta lidera, domingo é o vale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5715000" cy="3321050"/>
          </a:xfrm>
          <a:prstGeom prst="roundRect">
            <a:avLst>
              <a:gd name="adj" fmla="val 1530"/>
            </a:avLst>
          </a:prstGeom>
          <a:solidFill>
            <a:srgbClr val="FFFFFF"/>
          </a:solidFill>
          <a:ln/>
        </p:spPr>
      </p:sp>
      <p:pic>
        <p:nvPicPr>
          <p:cNvPr id="5" name="Image 0" descr="Índice de receita por dia da semana, App e Site, de dezembro a junho">    </p:cNvPr>
          <p:cNvPicPr>
            <a:picLocks noChangeAspect="1"/>
          </p:cNvPicPr>
          <p:nvPr/>
        </p:nvPicPr>
        <p:blipFill>
          <a:blip r:embed="rId1"/>
          <a:srcRect l="-139" r="-139" t="0" b="0"/>
          <a:stretch/>
        </p:blipFill>
        <p:spPr>
          <a:xfrm>
            <a:off x="819150" y="1987550"/>
            <a:ext cx="5702300" cy="3308350"/>
          </a:xfrm>
          <a:prstGeom prst="roundRect">
            <a:avLst>
              <a:gd name="adj" fmla="val 1344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5708650" cy="3314700"/>
          </a:xfrm>
          <a:prstGeom prst="roundRect">
            <a:avLst>
              <a:gd name="adj" fmla="val 1437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45300" y="1981200"/>
            <a:ext cx="0" cy="257175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85000" y="1981200"/>
            <a:ext cx="452602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Sexta é o melhor dia nos dois canais.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45300" y="2416175"/>
            <a:ext cx="0" cy="257175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85000" y="2416175"/>
            <a:ext cx="452602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Domingo: −18% no App e −27% no Site.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45300" y="2851150"/>
            <a:ext cx="0" cy="51435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85000" y="2851150"/>
            <a:ext cx="452602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App segura o fim de semana: sábado na média; no Site, −12%.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45300" y="3543300"/>
            <a:ext cx="0" cy="514350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5000" y="3543300"/>
            <a:ext cx="452602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Potencial: o domingo vende R$ 340 mil abaixo de um dia médio, ~R$ 1,5 mi por mês.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32600" y="4235450"/>
            <a:ext cx="46829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= receita média do dia ÷ média do canal, dezembro a junho (sem novembro).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FLUTUAÇÃO AO LONGO DO DIA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Pico às 11h e um segundo pico noturno no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985000" cy="273685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</p:spPr>
      </p:sp>
      <p:pic>
        <p:nvPicPr>
          <p:cNvPr id="5" name="Image 0" descr="Curva de vendas por hora do dia por canal e mapa de calor dia da semana por hora">    </p:cNvPr>
          <p:cNvPicPr>
            <a:picLocks noChangeAspect="1"/>
          </p:cNvPicPr>
          <p:nvPr/>
        </p:nvPicPr>
        <p:blipFill>
          <a:blip r:embed="rId1"/>
          <a:srcRect l="-97" r="-97" t="0" b="0"/>
          <a:stretch/>
        </p:blipFill>
        <p:spPr>
          <a:xfrm>
            <a:off x="819150" y="1987550"/>
            <a:ext cx="6972300" cy="2724150"/>
          </a:xfrm>
          <a:prstGeom prst="roundRect">
            <a:avLst>
              <a:gd name="adj" fmla="val 1632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978650" cy="2730500"/>
          </a:xfrm>
          <a:prstGeom prst="roundRect">
            <a:avLst>
              <a:gd name="adj" fmla="val 1744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1981200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55000" y="1981200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canais acordam juntos e atingem o pico às 11h.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15300" y="261366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0" y="2613661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App tem segundo pico às 20h–21h: o canal do sofá.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15300" y="324612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5000" y="3246121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Sexta de manhã é o horário mais quente da semana.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15300" y="3878582"/>
            <a:ext cx="0" cy="480060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5000" y="3878582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Uso: horário de push, CRM e troca de banner.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 MÉDIO DE VENDA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Menos desconto, ticket maior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985000" cy="3092450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/>
        </p:spPr>
      </p:sp>
      <p:pic>
        <p:nvPicPr>
          <p:cNvPr id="5" name="Image 0" descr="Ticket médio e preço médio por item por mês, com a taxa de desconto em barras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819150" y="1987550"/>
            <a:ext cx="6972300" cy="3079750"/>
          </a:xfrm>
          <a:prstGeom prst="roundRect">
            <a:avLst>
              <a:gd name="adj" fmla="val 1443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978650" cy="3086100"/>
          </a:xfrm>
          <a:prstGeom prst="roundRect">
            <a:avLst>
              <a:gd name="adj" fmla="val 1543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1981200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55000" y="1981200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Ticket médio: R$ 59 em novembro, R$ 93 em junho.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15300" y="261366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0" y="2613661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Desconto: de 55% para 35% do preço cheio.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15300" y="324612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5000" y="3246121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Itens por pedido estáveis (~1,5): o ganho vem do preço por item.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15300" y="3878582"/>
            <a:ext cx="0" cy="480060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5000" y="3878582"/>
            <a:ext cx="32179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o negócio: quanto da venda futura a promoção antecipa?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02600" y="4511039"/>
            <a:ext cx="33748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Desconto = desconto ÷ (receita + desconto), assumindo receita líquida.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COMPORTAMENTO DE CONSUMO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Desconto compra volume, não valor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5715000" cy="2813050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/>
        </p:spPr>
      </p:sp>
      <p:pic>
        <p:nvPicPr>
          <p:cNvPr id="5" name="Image 0" descr="Variação associada a mais 1 ponto de desconto: pedidos +2,8%, itens por pedido +0,8%, preço por item −1,9%, ticket −1,1%, receita +1,6%">    </p:cNvPr>
          <p:cNvPicPr>
            <a:picLocks noChangeAspect="1"/>
          </p:cNvPicPr>
          <p:nvPr/>
        </p:nvPicPr>
        <p:blipFill>
          <a:blip r:embed="rId1"/>
          <a:srcRect l="-179" r="-179" t="0" b="0"/>
          <a:stretch/>
        </p:blipFill>
        <p:spPr>
          <a:xfrm>
            <a:off x="819150" y="1987550"/>
            <a:ext cx="5702300" cy="2800350"/>
          </a:xfrm>
          <a:prstGeom prst="roundRect">
            <a:avLst>
              <a:gd name="adj" fmla="val 158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5708650" cy="2806700"/>
          </a:xfrm>
          <a:prstGeom prst="roundRect">
            <a:avLst>
              <a:gd name="adj" fmla="val 1697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45300" y="1981200"/>
            <a:ext cx="0" cy="44577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85000" y="1981200"/>
            <a:ext cx="452602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 p.p. de desconto: +2,8% de pedidos, −1,9% no preço por item, +1,6% de receita.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45300" y="2566671"/>
            <a:ext cx="0" cy="44577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85000" y="2566671"/>
            <a:ext cx="452602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promoção, perfumaria vai de 46% para 60% da receita; Gifts cai de 14% para 7%.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35775" y="3155314"/>
            <a:ext cx="4540250" cy="1259205"/>
          </a:xfrm>
          <a:prstGeom prst="roundRect">
            <a:avLst>
              <a:gd name="adj" fmla="val 579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0080" y="3309621"/>
            <a:ext cx="43585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Cenário: +5 p.p. de desconto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90080" y="3591561"/>
            <a:ext cx="435858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+8% de receita, mas +19% de itens vendidos. Só compensa se o custo do produto for menor que ~43% da receita líquida.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Associação controlada por dia da semana e mês; dias de desconto também têm campanha e mídia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COMPORTAMENTO DE CONSUMO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presente tem destinatário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7493000" cy="31242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/>
        </p:spPr>
      </p:sp>
      <p:pic>
        <p:nvPicPr>
          <p:cNvPr id="5" name="Image 0" descr="Participação de perfumaria feminina, masculina e gifts nos 21 dias antes do Dia das Mães e do Dia dos Namorados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819150" y="1987550"/>
            <a:ext cx="7480300" cy="3111500"/>
          </a:xfrm>
          <a:prstGeom prst="roundRect">
            <a:avLst>
              <a:gd name="adj" fmla="val 142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7486650" cy="3117850"/>
          </a:xfrm>
          <a:prstGeom prst="roundRect">
            <a:avLst>
              <a:gd name="adj" fmla="val 1527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23300" y="1981200"/>
            <a:ext cx="0" cy="668655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63000" y="1981200"/>
            <a:ext cx="269468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do Dia das Mães, a perfumaria feminina sobe para ~25% da receita.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23300" y="2802254"/>
            <a:ext cx="0" cy="445770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63000" y="2802254"/>
            <a:ext cx="269468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dos Namorados, a masculina chega a 34%–42%.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23300" y="3400425"/>
            <a:ext cx="0" cy="44577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3000" y="3400425"/>
            <a:ext cx="269468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curva acelera cerca de uma semana antes da data.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23300" y="3998596"/>
            <a:ext cx="0" cy="44577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63000" y="3998596"/>
            <a:ext cx="269468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Salário: dias 5 a 7 vendem +22% (Site +23%, App +17%).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54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PREDITIVO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8821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5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Vocês fizeram três perguntas. Respondo nesta ordem.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876550"/>
            <a:ext cx="3403600" cy="2082800"/>
          </a:xfrm>
          <a:prstGeom prst="roundRect">
            <a:avLst>
              <a:gd name="adj" fmla="val 4878"/>
            </a:avLst>
          </a:prstGeom>
          <a:solidFill>
            <a:srgbClr val="2A383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3105150"/>
            <a:ext cx="30347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8A06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41400" y="35242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este algoritmo?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841750"/>
            <a:ext cx="3034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formato do problema elimina a maior parte das opções. Testei oito modelos nas mesmas semanas e escolhi pelo custo do erro, não pelo menor número.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4200" y="2876550"/>
            <a:ext cx="3403600" cy="2082800"/>
          </a:xfrm>
          <a:prstGeom prst="roundRect">
            <a:avLst>
              <a:gd name="adj" fmla="val 4878"/>
            </a:avLst>
          </a:prstGeom>
          <a:solidFill>
            <a:srgbClr val="2A383E"/>
          </a:solidFill>
          <a:ln/>
        </p:spPr>
      </p:sp>
      <p:sp>
        <p:nvSpPr>
          <p:cNvPr id="9" name="Text 7"/>
          <p:cNvSpPr/>
          <p:nvPr/>
        </p:nvSpPr>
        <p:spPr>
          <a:xfrm>
            <a:off x="4622800" y="3105150"/>
            <a:ext cx="30347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8A06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22800" y="35242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construí e validei?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2800" y="3841750"/>
            <a:ext cx="3034792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 no passado, teste na semana seguinte, 16 vezes. Nunca sorteio de dias: o modelo não pode ver o futuro.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5600" y="2876550"/>
            <a:ext cx="3403600" cy="2082800"/>
          </a:xfrm>
          <a:prstGeom prst="roundRect">
            <a:avLst>
              <a:gd name="adj" fmla="val 4878"/>
            </a:avLst>
          </a:prstGeom>
          <a:solidFill>
            <a:srgbClr val="2A383E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3105150"/>
            <a:ext cx="30347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8A06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04200" y="352425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Quais variáveis pesaram?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4200" y="3841750"/>
            <a:ext cx="3034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nível da semana anterior, a proximidade da próxima data de presente e o canal. O modelo diz isso sozinho, e eu mostro como.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Alvo: receita aprovada líquida por dia e canal, 7 dias à frente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PREVISÃO DE 7 DIAS À FRENTE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formato do problema restringe o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3380264" cy="1863090"/>
          </a:xfrm>
          <a:prstGeom prst="roundRect">
            <a:avLst>
              <a:gd name="adj" fmla="val 528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240279"/>
            <a:ext cx="295450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&lt; 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880" y="2844800"/>
            <a:ext cx="295450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pontos diários: 242 dias × 2 canais. Não cabe modelo com milhares de parâmetros.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1984375"/>
            <a:ext cx="3380343" cy="1863090"/>
          </a:xfrm>
          <a:prstGeom prst="roundRect">
            <a:avLst>
              <a:gd name="adj" fmla="val 528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240279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vez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694" y="2844800"/>
            <a:ext cx="295458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data especial aparece uma vez só: uma Black Friday, um Dia das Mães, um Namorados.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1984375"/>
            <a:ext cx="3380343" cy="1863090"/>
          </a:xfrm>
          <a:prstGeom prst="roundRect">
            <a:avLst>
              <a:gd name="adj" fmla="val 528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240279"/>
            <a:ext cx="295458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7 dias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1587" y="2844800"/>
            <a:ext cx="295458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antecedência para a operação reagir: só entra o que se sabe uma semana antes.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104642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Testei em vez de descartar:</a:t>
            </a: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ETS, SARIMA e SARIMAX entraram no torneio com as mesmas semanas e as mesmas regras. Ficaram de fora só Prophet (precisa de um ano para aprender a sazonalidade anual) e redes neurais (decorariam 500 pontos e não explicam a previsão).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Alvo: receita aprovada líquida por dia e canal, desconto abatido e estornos incluídos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VALIDEI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Treino no passado, teste na semana seguinte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604000" cy="3302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pic>
        <p:nvPicPr>
          <p:cNvPr id="5" name="Image 0" descr="Animação do walk-forward: a janela de treino cresce semana a semana e a previsão da semana seguinte é desenhada sobre a receita real">    </p:cNvPr>
          <p:cNvPicPr>
            <a:picLocks noChangeAspect="1"/>
          </p:cNvPicPr>
          <p:nvPr/>
        </p:nvPicPr>
        <p:blipFill>
          <a:blip r:embed="rId1"/>
          <a:srcRect l="-97" r="-97" t="0" b="0"/>
          <a:stretch/>
        </p:blipFill>
        <p:spPr>
          <a:xfrm>
            <a:off x="819150" y="1987550"/>
            <a:ext cx="6591300" cy="3289300"/>
          </a:xfrm>
          <a:prstGeom prst="roundRect">
            <a:avLst>
              <a:gd name="adj" fmla="val 135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597650" cy="3295650"/>
          </a:xfrm>
          <a:prstGeom prst="roundRect">
            <a:avLst>
              <a:gd name="adj" fmla="val 1445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34300" y="1981200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74000" y="1981200"/>
            <a:ext cx="36103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Nunca sorteio de dias: o modelo não pode ver o futuro.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34300" y="2613664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74000" y="2613664"/>
            <a:ext cx="36103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semana, retreina com tudo até ali e prevê os 7 dias seguintes.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34300" y="3246121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74000" y="3246121"/>
            <a:ext cx="36103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Junho ficou fora do ajuste de parâmetros, do começo ao fim.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34300" y="3878579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74000" y="3878579"/>
            <a:ext cx="36103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Mesmas variáveis e mesmas semanas para os oito modelos.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34300" y="4511042"/>
            <a:ext cx="0" cy="642938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74000" y="4511042"/>
            <a:ext cx="3610356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30,7% do gráfico são de uma origem só, a de 06/01, numa semana atípica. A média das 16 é 21,7% no dia e 14,0% na semana.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semanas previstas: 11 de jan a mai e 5 de junho · nenhuma usada para ajustar parâmetros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ESTE ALGORITMO</a:t>
            </a:r>
            <a:endParaRPr lang="en-US" sz="94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8081"/>
            <a:ext cx="10883392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4"/>
              </a:lnSpc>
              <a:buNone/>
            </a:pPr>
            <a:r>
              <a:rPr lang="en-US" sz="189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Nenhum modelo ganha em tudo: escolhi pelo custo do erro</a:t>
            </a:r>
            <a:endParaRPr lang="en-US" sz="18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21156"/>
          <a:ext cx="10556240" cy="2332752"/>
        </p:xfrm>
        <a:graphic>
          <a:graphicData uri="http://schemas.openxmlformats.org/drawingml/2006/table">
            <a:tbl>
              <a:tblPr/>
              <a:tblGrid>
                <a:gridCol w="3589122"/>
                <a:gridCol w="1900123"/>
                <a:gridCol w="1688998"/>
                <a:gridCol w="1688998"/>
                <a:gridCol w="1688998"/>
              </a:tblGrid>
              <a:tr h="25915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Papel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Erro no dia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Erro na semana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Viés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25915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Repetir a semana anterior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Régua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17,7%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5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Média móvel de 7 dias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Régua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25,1%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17,7%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−3,0%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5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Regressão linear (Ridge)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simples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24,7%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18,3%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−9,9%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5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ETS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Clássico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22,3%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16,3%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−13,3%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23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SARIMAX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Clássico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23,4%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−6,6%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23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SARIMA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Clássico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13,1%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−8,8%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23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Controle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12,9%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−2,7%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239"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LightGBM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Escolhido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21,7%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14,0%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307"/>
                        </a:lnSpc>
                        <a:buNone/>
                      </a:pPr>
                      <a:r>
                        <a:rPr lang="en-US" sz="93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−2,5%</a:t>
                      </a:r>
                      <a:endParaRPr lang="en-US" sz="93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1505" marR="41505" marT="41505" marB="4150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131711"/>
            <a:ext cx="10566400" cy="802799"/>
          </a:xfrm>
          <a:prstGeom prst="roundRect">
            <a:avLst>
              <a:gd name="adj" fmla="val 9492"/>
            </a:avLst>
          </a:prstGeom>
          <a:solidFill>
            <a:srgbClr val="EAE5DC"/>
          </a:solidFill>
          <a:ln/>
        </p:spPr>
        <p:txBody>
          <a:bodyPr wrap="square" lIns="117382" tIns="117382" rIns="0" bIns="91982" rtlCol="0" anchor="t">
            <a:normAutofit/>
          </a:bodyPr>
          <a:lstStyle/>
          <a:p>
            <a:pPr algn="l" indent="0" marL="0">
              <a:lnSpc>
                <a:spcPts val="1591"/>
              </a:lnSpc>
              <a:buNone/>
            </a:pPr>
            <a:r>
              <a:rPr lang="en-US" sz="1137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diferenças na coluna da semana estão dentro do erro de medição; as de viés não estão.</a:t>
            </a:r>
            <a:r>
              <a:rPr lang="en-US" sz="1137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Numa semana cheia de R$ 10,8 mi, o ponto que separa LightGBM e XGBoost é ~R$ 117 mil e não é mensurável. Os 8,8% do SARIMA são ~R$ 950 mil a menos de planejamento, toda semana, sempre no mesmo sentido.</a:t>
            </a:r>
            <a:endParaRPr lang="en-US" sz="1137" dirty="0"/>
          </a:p>
        </p:txBody>
      </p:sp>
      <p:sp>
        <p:nvSpPr>
          <p:cNvPr id="6" name="Shape 3"/>
          <p:cNvSpPr/>
          <p:nvPr/>
        </p:nvSpPr>
        <p:spPr>
          <a:xfrm>
            <a:off x="815975" y="5115483"/>
            <a:ext cx="5187950" cy="844550"/>
          </a:xfrm>
          <a:prstGeom prst="roundRect">
            <a:avLst>
              <a:gd name="adj" fmla="val 8647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7580" y="5257088"/>
            <a:ext cx="505188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SARIMA é o melhor no total da semana. Não o escolhi porque prevê abaixo da venda em todo regime, inclusive em dia normal: isso vira ruptura.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5115483"/>
            <a:ext cx="5187950" cy="819150"/>
          </a:xfrm>
          <a:prstGeom prst="roundRect">
            <a:avLst>
              <a:gd name="adj" fmla="val 8915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9680" y="5257088"/>
            <a:ext cx="5051882" cy="56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 e XGBoost são intercambiáveis: nenhum intervalo separa os dois. Entreguei o LightGBM porque a faixa de previsão sai da mesma família e o retreino é mais rápido.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semanas previstas (jan–jun) · erro = soma dos erros ÷ receita real · viés negativo = previu abaixo do real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DECISÃO, EM TRÊS CAMADAS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5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Por que não sigo a regra que eu mesmo fixei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3386614" cy="1638300"/>
          </a:xfrm>
          <a:prstGeom prst="roundRect">
            <a:avLst>
              <a:gd name="adj" fmla="val 6202"/>
            </a:avLst>
          </a:prstGeom>
          <a:solidFill>
            <a:srgbClr val="2A383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95500"/>
            <a:ext cx="30696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O que a regra diz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2402842"/>
            <a:ext cx="306962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Empate estatístico favorece o mais simples. Aplicada aos oito modelos, ela aponta a média móvel.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14" y="1892300"/>
            <a:ext cx="3386693" cy="1638300"/>
          </a:xfrm>
          <a:prstGeom prst="roundRect">
            <a:avLst>
              <a:gd name="adj" fmla="val 6202"/>
            </a:avLst>
          </a:prstGeom>
          <a:solidFill>
            <a:srgbClr val="2A383E"/>
          </a:solidFill>
          <a:ln/>
        </p:spPr>
      </p:sp>
      <p:sp>
        <p:nvSpPr>
          <p:cNvPr id="8" name="Text 6"/>
          <p:cNvSpPr/>
          <p:nvPr/>
        </p:nvSpPr>
        <p:spPr>
          <a:xfrm>
            <a:off x="4605814" y="2095500"/>
            <a:ext cx="30697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Por que ela não decide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05814" y="2402842"/>
            <a:ext cx="306970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5 semanas, só detectaria uma diferença de 19 pontos. Nenhum modelo real se separa tanto: a regra declara empate porque não enxerga.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07" y="1892300"/>
            <a:ext cx="3386693" cy="1638300"/>
          </a:xfrm>
          <a:prstGeom prst="roundRect">
            <a:avLst>
              <a:gd name="adj" fmla="val 6202"/>
            </a:avLst>
          </a:prstGeom>
          <a:solidFill>
            <a:srgbClr val="2A383E"/>
          </a:solidFill>
          <a:ln/>
        </p:spPr>
      </p:sp>
      <p:sp>
        <p:nvSpPr>
          <p:cNvPr id="11" name="Text 9"/>
          <p:cNvSpPr/>
          <p:nvPr/>
        </p:nvSpPr>
        <p:spPr>
          <a:xfrm>
            <a:off x="8195707" y="2095500"/>
            <a:ext cx="30697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 decisão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95707" y="2402842"/>
            <a:ext cx="306970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LightGBM: não é pior que a média móvel nas 16 semanas, não tem viés sistemático e explica a previsão. A média móvel fica como régua.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75920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Gatilho de reversão:</a:t>
            </a:r>
            <a:r>
              <a:rPr lang="en-US" sz="13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o LightGBM não superar a média móvel na Black Friday, volto ao modelo simples. O critério está fixado agora, antes da data. O Dia dos Pais, que era o outro teste, já passou e eu não recebi o dado.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inferioridade nas 16 semanas: diferença de −3,4 pontos, intervalo de 95% entre −9,7 e +2,7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O MODELO SE PAGA</a:t>
            </a:r>
            <a:endParaRPr lang="en-US" sz="108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5867"/>
            <a:ext cx="10883392" cy="38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8"/>
              </a:lnSpc>
              <a:buNone/>
            </a:pPr>
            <a:r>
              <a:rPr lang="en-US" sz="2494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régua ganha na semana calma; o modelo ganha na virada</a:t>
            </a:r>
            <a:endParaRPr lang="en-US" sz="2494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242"/>
          <a:ext cx="10556240" cy="1906905"/>
        </p:xfrm>
        <a:graphic>
          <a:graphicData uri="http://schemas.openxmlformats.org/drawingml/2006/table">
            <a:tbl>
              <a:tblPr/>
              <a:tblGrid>
                <a:gridCol w="3589122"/>
                <a:gridCol w="2322373"/>
                <a:gridCol w="2322373"/>
                <a:gridCol w="2322373"/>
              </a:tblGrid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Semana estável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Semana de virada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Quanto piora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LightGBM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17,7%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25,8%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1,5×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</a:tr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16,8%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28,0%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1,7×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SARIMA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14,8%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26,6%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1,8×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Média móvel de 7 dias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14,3%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36,9%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2,6×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17">
                <a:tc>
                  <a:txBody>
                    <a:bodyPr/>
                    <a:lstStyle/>
                    <a:p>
                      <a:pPr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Repetir a semana anterior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18,4%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45,1%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15"/>
                        </a:lnSpc>
                        <a:buNone/>
                      </a:pPr>
                      <a:r>
                        <a:rPr lang="en-US" sz="1154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2,4×</a:t>
                      </a:r>
                      <a:endParaRPr lang="en-US" sz="1154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284" marR="51284" marT="51284" marB="51284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895409"/>
            <a:ext cx="5187950" cy="1065213"/>
          </a:xfrm>
          <a:prstGeom prst="roundRect">
            <a:avLst>
              <a:gd name="adj" fmla="val 6855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0280" y="4049713"/>
            <a:ext cx="5025720" cy="19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1101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semana calma, a régua é melhor</a:t>
            </a:r>
            <a:endParaRPr lang="en-US" sz="1101" dirty="0"/>
          </a:p>
        </p:txBody>
      </p:sp>
      <p:sp>
        <p:nvSpPr>
          <p:cNvPr id="7" name="Text 4"/>
          <p:cNvSpPr/>
          <p:nvPr/>
        </p:nvSpPr>
        <p:spPr>
          <a:xfrm>
            <a:off x="970280" y="4267361"/>
            <a:ext cx="502572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está tudo bem: é a semana em que errar é barato. O erro da média móvel acompanha a virada de patamar (correlação 0,76); o do LightGBM, menos da metade disso (0,45).</a:t>
            </a:r>
            <a:endParaRPr lang="en-US" sz="1016" dirty="0"/>
          </a:p>
        </p:txBody>
      </p:sp>
      <p:sp>
        <p:nvSpPr>
          <p:cNvPr id="8" name="Shape 5"/>
          <p:cNvSpPr/>
          <p:nvPr/>
        </p:nvSpPr>
        <p:spPr>
          <a:xfrm>
            <a:off x="6188075" y="3895409"/>
            <a:ext cx="5187950" cy="1065213"/>
          </a:xfrm>
          <a:prstGeom prst="roundRect">
            <a:avLst>
              <a:gd name="adj" fmla="val 6855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42380" y="4049713"/>
            <a:ext cx="50257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viés ~zero é compensação, não ausência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42380" y="4298634"/>
            <a:ext cx="5025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LightGBM: −21,1% em janela de evento e +2,7% em dia normal. A média móvel erra mais nos dois: −30,9% e +4,6%.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5166996"/>
            <a:ext cx="10566400" cy="675005"/>
          </a:xfrm>
          <a:prstGeom prst="roundRect">
            <a:avLst>
              <a:gd name="adj" fmla="val 11289"/>
            </a:avLst>
          </a:prstGeom>
          <a:solidFill>
            <a:srgbClr val="EAE5DC"/>
          </a:solidFill>
          <a:ln/>
        </p:spPr>
        <p:txBody>
          <a:bodyPr wrap="square" lIns="117382" tIns="117382" rIns="0" bIns="91982" rtlCol="0" anchor="t">
            <a:normAutofit/>
          </a:bodyPr>
          <a:lstStyle/>
          <a:p>
            <a:pPr algn="l" indent="0" marL="0">
              <a:lnSpc>
                <a:spcPts val="1559"/>
              </a:lnSpc>
              <a:buNone/>
            </a:pPr>
            <a:r>
              <a:rPr lang="en-US" sz="1113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oito modelos subestimam semana de evento.</a:t>
            </a:r>
            <a:r>
              <a:rPr lang="en-US" sz="1113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Nenhum aprendeu data comemorativa, porque cada uma aparece uma única vez na base. É limitação do dado, não escolha de algoritmo — e é o que o gatilho de reversão vai testar na Black Friday.</a:t>
            </a:r>
            <a:endParaRPr lang="en-US" sz="1113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semanas previstas, corte na mediana da virada de patamar: 8 estáveis e 8 de virada · viés no recorte de 16 semanas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QUANTO O MODELO AGREGA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Planeje pela semana, com a folga à vista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985000" cy="2863850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/>
        </p:spPr>
      </p:sp>
      <p:pic>
        <p:nvPicPr>
          <p:cNvPr id="5" name="Image 0" descr="Junho de 2026: receita real, previsão do LightGBM e faixa provável ajustada">    </p:cNvPr>
          <p:cNvPicPr>
            <a:picLocks noChangeAspect="1"/>
          </p:cNvPicPr>
          <p:nvPr/>
        </p:nvPicPr>
        <p:blipFill>
          <a:blip r:embed="rId1"/>
          <a:srcRect l="-81" r="-81" t="0" b="0"/>
          <a:stretch/>
        </p:blipFill>
        <p:spPr>
          <a:xfrm>
            <a:off x="819150" y="1987550"/>
            <a:ext cx="6972300" cy="2851150"/>
          </a:xfrm>
          <a:prstGeom prst="roundRect">
            <a:avLst>
              <a:gd name="adj" fmla="val 155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978650" cy="2857500"/>
          </a:xfrm>
          <a:prstGeom prst="roundRect">
            <a:avLst>
              <a:gd name="adj" fmla="val 1667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2600" y="1981200"/>
            <a:ext cx="337489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22% → 14%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102600" y="2425700"/>
            <a:ext cx="337489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erro cai quando se planeja a semana, não o dia (16 semanas)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02600" y="2989585"/>
            <a:ext cx="337489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B5541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R$ 1,1 mi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02600" y="3434085"/>
            <a:ext cx="337489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erro numa semana cheia de junho de ~R$ 10,8 mi, ou 10%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02600" y="3997958"/>
            <a:ext cx="337489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5D8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28,7%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102600" y="4442458"/>
            <a:ext cx="337489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folga que a logística reserva: em 4 de 5 semanas o erro fica abaixo disso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semanal: 10% em junho, 15% em jan–mai, 14% nas 16 semanas · folga = P80 do erro em 25 semanas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VARIÁVEIS MAIS IMPORTANTES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Como o modelo pensa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6096000" cy="3625850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/>
        </p:spPr>
      </p:sp>
      <p:pic>
        <p:nvPicPr>
          <p:cNvPr id="5" name="Image 0" descr="Decomposição da previsão do App em 12/06/2026: partindo de uma base, cada variável soma ou subtrai até a previsão de cerca de R$ 1,6 milhão">    </p:cNvPr>
          <p:cNvPicPr>
            <a:picLocks noChangeAspect="1"/>
          </p:cNvPicPr>
          <p:nvPr/>
        </p:nvPicPr>
        <p:blipFill>
          <a:blip r:embed="rId1"/>
          <a:srcRect l="-64" r="-64" t="0" b="0"/>
          <a:stretch/>
        </p:blipFill>
        <p:spPr>
          <a:xfrm>
            <a:off x="819150" y="1987550"/>
            <a:ext cx="6083300" cy="3613150"/>
          </a:xfrm>
          <a:prstGeom prst="roundRect">
            <a:avLst>
              <a:gd name="adj" fmla="val 123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6089650" cy="3619500"/>
          </a:xfrm>
          <a:prstGeom prst="roundRect">
            <a:avLst>
              <a:gd name="adj" fmla="val 1316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13600" y="1981200"/>
            <a:ext cx="429056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Parte do nível</a:t>
            </a: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semana anterior.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13600" y="2339342"/>
            <a:ext cx="42905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Ajusta pela data</a:t>
            </a: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quantos dias faltam para a próxima data de presente.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13600" y="2928627"/>
            <a:ext cx="4978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Refina</a:t>
            </a: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pela posição no mês e pelo desconto recente.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16775" y="3289933"/>
            <a:ext cx="4159250" cy="720090"/>
          </a:xfrm>
          <a:prstGeom prst="roundRect">
            <a:avLst>
              <a:gd name="adj" fmla="val 10141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  <p:txBody>
          <a:bodyPr wrap="square" lIns="107517" tIns="107517" rIns="0" bIns="8211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Namorados no App: previsto ~R$ 1,6 mi, real R$ 2,10 mi. Acerta o padrão, não a magnitude.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5854700"/>
            <a:ext cx="108833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média_7 = venda média 7 dias · dias_até_presente = dias até data de presente · lag_7 = venda do mesmo dia, semana passada · canal = App ou Site · Laranj: sobe · Azul: desce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Importância por permutação (30 repetições) e SHAP, com o modelo de cada semana de junho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3914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SEÇÃO 2 · SCORING DE BANNERS COM 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57301"/>
            <a:ext cx="10883392" cy="134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Eu não seguiria com o projeto como ele está.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178784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ideia é boa, mas crua: não há KPI, nem critério do que é um banner bom, nem decisão de negócio que o score vá apoiar. Primeiro o escopo, depois uma PoC, só então um MVP.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CONDUÇÃO COM O TIME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Não à ferramenta, sim ao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75"/>
            <a:ext cx="3075464" cy="1113790"/>
          </a:xfrm>
          <a:prstGeom prst="roundRect">
            <a:avLst>
              <a:gd name="adj" fmla="val 8837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113285"/>
            <a:ext cx="27975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Escopo · 1–2 sem.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680" y="2405385"/>
            <a:ext cx="27975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decisão o score muda? Qual KPI prova que funcionou?</a:t>
            </a:r>
            <a:endParaRPr lang="en-US" sz="13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47014" y="2401577"/>
            <a:ext cx="3556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58189" y="1933575"/>
            <a:ext cx="3075543" cy="1113790"/>
          </a:xfrm>
          <a:prstGeom prst="roundRect">
            <a:avLst>
              <a:gd name="adj" fmla="val 8837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7894" y="2113285"/>
            <a:ext cx="27976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PoC · 2 sem.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37894" y="2405385"/>
            <a:ext cx="279761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Existe sinal entre atributos visuais e o KPI? Seguir ou parar.</a:t>
            </a:r>
            <a:endParaRPr lang="en-US" sz="13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9307" y="2401577"/>
            <a:ext cx="3556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00482" y="1933575"/>
            <a:ext cx="3075543" cy="1113790"/>
          </a:xfrm>
          <a:prstGeom prst="roundRect">
            <a:avLst>
              <a:gd name="adj" fmla="val 8837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80187" y="2113285"/>
            <a:ext cx="27976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MVP · 4 sem.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80187" y="2405385"/>
            <a:ext cx="279761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e teste A/B. Escala só se o A/B provar ganho.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800" y="3279142"/>
            <a:ext cx="5181600" cy="1272540"/>
          </a:xfrm>
          <a:prstGeom prst="roundRect">
            <a:avLst>
              <a:gd name="adj" fmla="val 7984"/>
            </a:avLst>
          </a:prstGeom>
          <a:solidFill>
            <a:srgbClr val="EAE5DC"/>
          </a:solidFill>
          <a:ln/>
        </p:spPr>
      </p:sp>
      <p:sp>
        <p:nvSpPr>
          <p:cNvPr id="16" name="Text 12"/>
          <p:cNvSpPr/>
          <p:nvPr/>
        </p:nvSpPr>
        <p:spPr>
          <a:xfrm>
            <a:off x="990600" y="3456942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começa já, sem esperar a homologação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90600" y="3733800"/>
            <a:ext cx="49707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time rotula uma amostra de banners e define o que é "bom"; levantamos o histórico de cliques; protótipo em ferramentas já homologadas.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97600" y="3279142"/>
            <a:ext cx="5181600" cy="1272540"/>
          </a:xfrm>
          <a:prstGeom prst="roundRect">
            <a:avLst>
              <a:gd name="adj" fmla="val 7984"/>
            </a:avLst>
          </a:prstGeom>
          <a:solidFill>
            <a:srgbClr val="EAE5DC"/>
          </a:solidFill>
          <a:ln/>
        </p:spPr>
      </p:sp>
      <p:sp>
        <p:nvSpPr>
          <p:cNvPr id="19" name="Text 15"/>
          <p:cNvSpPr/>
          <p:nvPr/>
        </p:nvSpPr>
        <p:spPr>
          <a:xfrm>
            <a:off x="6375400" y="3456942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é dono de quê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375400" y="3733800"/>
            <a:ext cx="49707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do hackathon: KPI, rótulos, A/B. Dados: pipeline e modelo. Segurança da Informação e Jurídico: parecer com prazo. Sponsor: espaço de teste.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Escopo + PoC + MVP = 7–8 semanas, com critério de parada em cada etapa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SCORE?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Cada score apoia uma decisão diferente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89760"/>
          <a:ext cx="10556240" cy="2141220"/>
        </p:xfrm>
        <a:graphic>
          <a:graphicData uri="http://schemas.openxmlformats.org/drawingml/2006/table">
            <a:tbl>
              <a:tblPr/>
              <a:tblGrid>
                <a:gridCol w="2744622"/>
                <a:gridCol w="4011371"/>
                <a:gridCol w="3800246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que apoia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Armadilha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CTR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 banner vai para a home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Premia o chamativo, não o que vende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Conversão pós-clique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 banner traz quem compra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Pouco volume por banner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Receita por impressão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Priorizar o espaço nobre (recomendado)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Atribuição da compra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Fadiga criativa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Quando trocar o banner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Confunde fadiga com sazonalidade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Aderência à marca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Revisão antes de publicar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Subjetivo, precisa de rótulo humano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234185"/>
            <a:ext cx="10566400" cy="1049020"/>
          </a:xfrm>
          <a:prstGeom prst="roundRect">
            <a:avLst>
              <a:gd name="adj" fmla="val 7264"/>
            </a:avLst>
          </a:prstGeom>
          <a:solidFill>
            <a:srgbClr val="EAE5DC"/>
          </a:solidFill>
          <a:ln/>
        </p:spPr>
      </p:sp>
      <p:sp>
        <p:nvSpPr>
          <p:cNvPr id="6" name="Text 3"/>
          <p:cNvSpPr/>
          <p:nvPr/>
        </p:nvSpPr>
        <p:spPr>
          <a:xfrm>
            <a:off x="965200" y="4386585"/>
            <a:ext cx="105694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Provocação da Seção 1: CTR alto pode vender pior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5200" y="4668527"/>
            <a:ext cx="105694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Novembro: 55% de desconto e ticket de R$ 59. Junho: 35% e R$ 93. Um score de CTR premiaria o banner de desconto agressivo, que atrai clique e traz pedido menor.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Recomendação: receita por impressão como KPI; CTR e conversão como diagnóstico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IMPLEMENTAÇÃO TÉCNICA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66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Arquitetura sem impeditivos de ferramenta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2292350" cy="934085"/>
          </a:xfrm>
          <a:prstGeom prst="roundRect">
            <a:avLst>
              <a:gd name="adj" fmla="val 781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580" y="1998985"/>
            <a:ext cx="206941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Ingestão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7580" y="2255527"/>
            <a:ext cx="206941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Banners do CMS e cliques do analytics</a:t>
            </a:r>
            <a:endParaRPr lang="en-US" sz="115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2260922"/>
            <a:ext cx="2540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71875" y="1857375"/>
            <a:ext cx="2292350" cy="934085"/>
          </a:xfrm>
          <a:prstGeom prst="roundRect">
            <a:avLst>
              <a:gd name="adj" fmla="val 781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13480" y="1998985"/>
            <a:ext cx="206941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Preparo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713480" y="2255527"/>
            <a:ext cx="206941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Redimensionar, deduplicar, OCR do texto</a:t>
            </a:r>
            <a:endParaRPr lang="en-US" sz="115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260922"/>
            <a:ext cx="2540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27775" y="1857375"/>
            <a:ext cx="2292350" cy="934085"/>
          </a:xfrm>
          <a:prstGeom prst="roundRect">
            <a:avLst>
              <a:gd name="adj" fmla="val 781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69380" y="1998985"/>
            <a:ext cx="206941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Embeddings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69380" y="2255527"/>
            <a:ext cx="206941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CLIP: impressão digital da imagem</a:t>
            </a:r>
            <a:endParaRPr lang="en-US" sz="115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2260922"/>
            <a:ext cx="2540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3675" y="1857375"/>
            <a:ext cx="2292350" cy="934085"/>
          </a:xfrm>
          <a:prstGeom prst="roundRect">
            <a:avLst>
              <a:gd name="adj" fmla="val 781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25280" y="1998985"/>
            <a:ext cx="206941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Atributos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225280" y="2255527"/>
            <a:ext cx="2069414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Zero-shot, clusters, cor, % de texto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5975" y="2988308"/>
            <a:ext cx="3210957" cy="934085"/>
          </a:xfrm>
          <a:prstGeom prst="roundRect">
            <a:avLst>
              <a:gd name="adj" fmla="val 781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57580" y="3129917"/>
            <a:ext cx="301557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Score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57580" y="3386460"/>
            <a:ext cx="3015579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Receita por impressão, controlando posição e período</a:t>
            </a:r>
            <a:endParaRPr lang="en-US" sz="1150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31707" y="3391855"/>
            <a:ext cx="254000" cy="1270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490482" y="3086894"/>
            <a:ext cx="3211036" cy="736918"/>
          </a:xfrm>
          <a:prstGeom prst="roundRect">
            <a:avLst>
              <a:gd name="adj" fmla="val 9910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32087" y="3228504"/>
            <a:ext cx="301566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Teste A/B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632087" y="3485046"/>
            <a:ext cx="3015661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 causal antes de virar critério</a:t>
            </a:r>
            <a:endParaRPr lang="en-US" sz="1150" dirty="0"/>
          </a:p>
        </p:txBody>
      </p:sp>
      <p:pic>
        <p:nvPicPr>
          <p:cNvPr id="26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06293" y="3391855"/>
            <a:ext cx="254000" cy="1270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165068" y="3086894"/>
            <a:ext cx="3210957" cy="736918"/>
          </a:xfrm>
          <a:prstGeom prst="roundRect">
            <a:avLst>
              <a:gd name="adj" fmla="val 9910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306674" y="3228504"/>
            <a:ext cx="301557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· Painel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306674" y="3485046"/>
            <a:ext cx="3015579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semanal, monitoramento e retreino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12800" y="4116077"/>
            <a:ext cx="5207000" cy="1327150"/>
          </a:xfrm>
          <a:prstGeom prst="roundRect">
            <a:avLst>
              <a:gd name="adj" fmla="val 5742"/>
            </a:avLst>
          </a:prstGeom>
          <a:solidFill>
            <a:srgbClr val="EAE5DC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o CLIP:</a:t>
            </a: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modelo aberto da OpenAI, treinado em 400 milhões de pares imagem–legenda. Ele coloca </a:t>
            </a:r>
            <a:r>
              <a:rPr lang="en-US" sz="11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imagem e texto no mesmo espaço numérico</a:t>
            </a: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então dá para perguntar "este banner mostra promoção?" sem treinar nada. Licença MIT, roda no nosso ambiente: sem custo de licença e sem enviar criativo para fora.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6172200" y="4116077"/>
            <a:ext cx="5207000" cy="1327150"/>
          </a:xfrm>
          <a:prstGeom prst="roundRect">
            <a:avLst>
              <a:gd name="adj" fmla="val 5742"/>
            </a:avLst>
          </a:prstGeom>
          <a:solidFill>
            <a:srgbClr val="EAE5DC"/>
          </a:solidFill>
          <a:ln/>
        </p:spPr>
        <p:txBody>
          <a:bodyPr wrap="square" lIns="130082" tIns="130082" rIns="0" bIns="130082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 embedding vira nota:</a:t>
            </a:r>
            <a:r>
              <a:rPr lang="en-US" sz="11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regressão da receita por impressão sobre os componentes do embedding e o OCR, com efeitos fixos de posição e semana. Assim o score compara banners no mesmo espaço e período: sem isso, aprende que "banner de Black Friday é bom".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Validação: o ranking do score acerta a ordem dos banners nas semanas seguintes?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 DE CONCEITO · 32 BANNERS SINTÉTICOS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embedding só ganha onde o atributo é semântico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02460"/>
          <a:ext cx="6403340" cy="2407920"/>
        </p:xfrm>
        <a:graphic>
          <a:graphicData uri="http://schemas.openxmlformats.org/drawingml/2006/table">
            <a:tbl>
              <a:tblPr/>
              <a:tblGrid>
                <a:gridCol w="2561336"/>
                <a:gridCol w="1280668"/>
                <a:gridCol w="1280668"/>
                <a:gridCol w="1280668"/>
              </a:tblGrid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Atributo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CLIP sem treino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CLIP + 24 rótulos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Medidas simples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Mensagem (promoção × lançamento)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31,2%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55,5%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 dominante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94,8%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Fundo claro × escuro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59,4%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71,9%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Preço visível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54,7%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Frasco de produto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51,6%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3000" y="1892300"/>
            <a:ext cx="0" cy="642938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2700" y="1892300"/>
            <a:ext cx="385889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régua visual bate o embedding em 3 de 5: brilho, contraste, cor média, bordas da caixa de preço e pixels do frasco acertam 100%.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93000" y="2674938"/>
            <a:ext cx="0" cy="642938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2700" y="2674938"/>
            <a:ext cx="385889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CLIP ganha em um atributo, e ganha muito: mensagem. É o único que exige semântica — e é o que justifica ele na arquitetura.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3000" y="3457575"/>
            <a:ext cx="0" cy="642938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2700" y="3457575"/>
            <a:ext cx="385889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treino depende do idioma: 31,2% porque os prompts em inglês não casam com “50% OFF” e “NOVO”. 24 rótulos humanos resolvem.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2800" y="6024885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Acaso: 50% nos binários, 25% na cor · média de 20 particionamentos · 32,3 ms por banner em lote em CPU, 5,4 min para 10 mil · valida componentes, não o score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A GESTÃO SÊNIOR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Quando o projeto se paga, e quando para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89760"/>
          <a:ext cx="10556240" cy="1658620"/>
        </p:xfrm>
        <a:graphic>
          <a:graphicData uri="http://schemas.openxmlformats.org/drawingml/2006/table">
            <a:tbl>
              <a:tblPr/>
              <a:tblGrid>
                <a:gridCol w="1900123"/>
                <a:gridCol w="2744622"/>
                <a:gridCol w="3166872"/>
                <a:gridCol w="2744622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Cenário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Ganho de receita/mês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Margem − custo recorrente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Payback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Pessimista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0% (A/B sem efeito)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−R$ 10 mil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 no critério de parada; perda = MVP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0,1% (≈ R$ 61 mil)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R$ 8 mil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12 meses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FD2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Otimista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0,3% (≈ R$ 183 mil)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R$ 45 mil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2 meses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754760"/>
            <a:ext cx="5175250" cy="999490"/>
          </a:xfrm>
          <a:prstGeom prst="roundRect">
            <a:avLst>
              <a:gd name="adj" fmla="val 7306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0280" y="3909058"/>
            <a:ext cx="50126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A/B não mede 0,1% da receita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70280" y="4173227"/>
            <a:ext cx="501263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Mede um KPI intermediário: +5% de CTR exige ~310 mil impressões por variante, dias numa home. A receita por impressão é a guarda.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3754760"/>
            <a:ext cx="5175250" cy="999490"/>
          </a:xfrm>
          <a:prstGeom prst="roundRect">
            <a:avLst>
              <a:gd name="adj" fmla="val 7306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3909058"/>
            <a:ext cx="50126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custo de não fazer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4173227"/>
            <a:ext cx="501263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Criativo sem dado e um time desmotivado buscando ferramentas paralelas, sem governança.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Premissas ilustrativas: R$ 100 mil (escopo + PoC + MVP), R$ 10 mil/mês de operação, margem de 30%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A GESTÃO SÊNIOR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Riscos, levantados antes da pergunta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3414157" cy="1408430"/>
          </a:xfrm>
          <a:prstGeom prst="roundRect">
            <a:avLst>
              <a:gd name="adj" fmla="val 698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894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LGPD e imagem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494285"/>
            <a:ext cx="30940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Detectar presença de pessoa, nunca identificar quem é. Sem dado de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984375"/>
            <a:ext cx="3414157" cy="1408430"/>
          </a:xfrm>
          <a:prstGeom prst="roundRect">
            <a:avLst>
              <a:gd name="adj" fmla="val 698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987" y="21894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987" y="2494285"/>
            <a:ext cx="309406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histórico favoreceu um perfil, o score repete. Auditar por atributo; nunca veto único.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9" y="1984375"/>
            <a:ext cx="3414157" cy="1408430"/>
          </a:xfrm>
          <a:prstGeom prst="roundRect">
            <a:avLst>
              <a:gd name="adj" fmla="val 698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894" y="21894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safety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6894" y="2494285"/>
            <a:ext cx="30940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score apoia a decisão; aprovação final com marca e criação.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551560"/>
            <a:ext cx="3414157" cy="1177290"/>
          </a:xfrm>
          <a:prstGeom prst="roundRect">
            <a:avLst>
              <a:gd name="adj" fmla="val 8360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080" y="3756658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Correlação ≠ causa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1080" y="4061458"/>
            <a:ext cx="30940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 de posição e período; A/B obrigatório antes de escalar.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82" y="3551560"/>
            <a:ext cx="3414157" cy="1177290"/>
          </a:xfrm>
          <a:prstGeom prst="roundRect">
            <a:avLst>
              <a:gd name="adj" fmla="val 8360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3987" y="3756658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3987" y="4061458"/>
            <a:ext cx="30940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 identidade visual ou campanha muda o padrão: monitorar e retreinar.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789" y="3551560"/>
            <a:ext cx="3414157" cy="1177290"/>
          </a:xfrm>
          <a:prstGeom prst="roundRect">
            <a:avLst>
              <a:gd name="adj" fmla="val 8360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6894" y="3756658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Dependência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66894" y="4061458"/>
            <a:ext cx="30940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simples para o time e trilha de homologação para autonomia futura.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que eu faria, com dono e prazo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5175250" cy="305054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49785"/>
            <a:ext cx="49079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Previsão de vendas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31240" y="2390145"/>
          <a:ext cx="4754880" cy="2299970"/>
        </p:xfrm>
        <a:graphic>
          <a:graphicData uri="http://schemas.openxmlformats.org/drawingml/2006/table">
            <a:tbl>
              <a:tblPr/>
              <a:tblGrid>
                <a:gridCol w="2282342"/>
                <a:gridCol w="1331366"/>
                <a:gridCol w="1141171"/>
              </a:tblGrid>
              <a:tr h="30353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Prazo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Black Friday contra a média móvel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Cientista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Semana da data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Retreinar com um ano completo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Cientista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Antes de novembro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Pedir margem, campanhas, mídia e ruptura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Analista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semanas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Modelos por antecedência (D+1 a D+7)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Cientista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semanas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00775" y="1844675"/>
            <a:ext cx="5175250" cy="305054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5880" y="2049785"/>
            <a:ext cx="49079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Scoring de banners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6040" y="2390145"/>
          <a:ext cx="4754880" cy="1908810"/>
        </p:xfrm>
        <a:graphic>
          <a:graphicData uri="http://schemas.openxmlformats.org/drawingml/2006/table">
            <a:tbl>
              <a:tblPr/>
              <a:tblGrid>
                <a:gridCol w="2282342"/>
                <a:gridCol w="1331366"/>
                <a:gridCol w="1141171"/>
              </a:tblGrid>
              <a:tr h="30353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Prazo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Sessão de escopo: decisão e KPI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 owner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semana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Inventário de dados de banners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Engenharia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semanas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Abrir a trilha de homologação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 e Jurídico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semanas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PoC com banners históricos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Cientista de dados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semanas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12800" y="5101592"/>
            <a:ext cx="10566400" cy="680720"/>
          </a:xfrm>
          <a:prstGeom prst="roundRect">
            <a:avLst>
              <a:gd name="adj" fmla="val 11194"/>
            </a:avLst>
          </a:prstGeom>
          <a:solidFill>
            <a:srgbClr val="EAE5DC"/>
          </a:solidFill>
          <a:ln/>
        </p:spPr>
        <p:txBody>
          <a:bodyPr wrap="square" lIns="104682" tIns="104682" rIns="0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Dia dos Pais, que seria o primeiro teste do gatilho, já aconteceu depois do fim da base e eu não recebi o dado para avaliá-lo. A Black Friday passa a ser o teste, com o critério fixado antes dela.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Prazos contados da aprovação do escopo · Case Especialista de Dados I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145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Obrigado.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1686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8A0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77825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Código, notebooks e decisões técnicas: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github.com/MatheusSilveiraVicente/case-especialista-dados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53009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B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quatro notebooks abrem direto no Google Colab pelo badge no topo de cada um.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APÊNDICE A1 · HIPÓTESES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Hipóteses testadas: o dado confirmou e derrubou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91360"/>
          <a:ext cx="10556240" cy="3068320"/>
        </p:xfrm>
        <a:graphic>
          <a:graphicData uri="http://schemas.openxmlformats.org/drawingml/2006/table">
            <a:tbl>
              <a:tblPr/>
              <a:tblGrid>
                <a:gridCol w="4011371"/>
                <a:gridCol w="1900123"/>
                <a:gridCol w="464474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Hipótese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Resultado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Evidência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Black Friday: receita sobe, preço cai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D8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Confirmada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 R$ 59 em novembro, R$ 80–93 no resto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Efeito salário (dias 5 e 20)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D8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Só o dia 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+22% nos dias 5–7; dia 20 neutro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Site no almoço, App só à noite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54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Parcial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Ambos picam às 11h; App tem 2º pico às 20h–21h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Cada categoria tem seu dia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54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Descartada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Todas seguem o mesmo padrão semanal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Pico de Natal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54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Descartada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25/12 é o pior dia da base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 das Mães e Namorados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D8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Confirmada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Pico na véspera; Namorados = 1,9× a média de junho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Algum canal ou categoria concentra estorno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54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Descartada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4,3% e Site 4,2%; por categoria, de 4,0% a 4,9%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Apêndice A1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APÊNDICE A2 · ALGORITMO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Por que árvores, e por que LightGBM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200"/>
            <a:ext cx="5981700" cy="368300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</p:spPr>
      </p:sp>
      <p:pic>
        <p:nvPicPr>
          <p:cNvPr id="5" name="Image 0" descr="Previsão do LightGBM em junho com 1, 10, 50 e 546 árvores sobre a receita real">    </p:cNvPr>
          <p:cNvPicPr>
            <a:picLocks noChangeAspect="1"/>
          </p:cNvPicPr>
          <p:nvPr/>
        </p:nvPicPr>
        <p:blipFill>
          <a:blip r:embed="rId1"/>
          <a:srcRect l="-40" r="-40" t="0" b="0"/>
          <a:stretch/>
        </p:blipFill>
        <p:spPr>
          <a:xfrm>
            <a:off x="819150" y="1987550"/>
            <a:ext cx="5969000" cy="3670300"/>
          </a:xfrm>
          <a:prstGeom prst="roundRect">
            <a:avLst>
              <a:gd name="adj" fmla="val 121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84375"/>
            <a:ext cx="5975350" cy="3676650"/>
          </a:xfrm>
          <a:prstGeom prst="roundRect">
            <a:avLst>
              <a:gd name="adj" fmla="val 1295"/>
            </a:avLst>
          </a:prstGeom>
          <a:noFill/>
          <a:ln w="6350">
            <a:solidFill>
              <a:srgbClr val="DED7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12000" y="1981200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51700" y="1981200"/>
            <a:ext cx="425132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árvore corrige o erro das anteriores: com 1 árvore, uma reta; com todas, o padrão.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12000" y="2613658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51700" y="2613658"/>
            <a:ext cx="425132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Aprende interações sozinha, como evento × canal × dia, que a linear não capta.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12000" y="3246127"/>
            <a:ext cx="0" cy="480060"/>
          </a:xfrm>
          <a:prstGeom prst="line">
            <a:avLst/>
          </a:prstGeom>
          <a:noFill/>
          <a:ln w="25400">
            <a:solidFill>
              <a:srgbClr val="B554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51700" y="3246127"/>
            <a:ext cx="425132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e LightGBM são primos: diferem em como cada árvore cresce. Empatam nas 16 semanas.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12000" y="3878585"/>
            <a:ext cx="0" cy="480060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51700" y="3878585"/>
            <a:ext cx="425132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Desempate por engenharia: categóricas nativas e retreino mais rápido no walk-forward.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Testei também o total do SARIMA com o perfil diário do LightGBM: melhor erro no dia (20,6%), mas herda o viés de −8,8% · Apêndice A2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APÊNDICE A3 · INTEGRIDADE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Como garanto que o resultado é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75"/>
            <a:ext cx="3380264" cy="2188210"/>
          </a:xfrm>
          <a:prstGeom prst="roundRect">
            <a:avLst>
              <a:gd name="adj" fmla="val 449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240285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646685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vazamento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880" y="2992127"/>
            <a:ext cx="295450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Corrompi todos os dados posteriores à data de previsão, nas 27 semanas previstas: nenhuma variável mudou. O teste roda junto com os demais.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789" y="1984375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694" y="224028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694" y="2646685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Revisão separada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1694" y="2992127"/>
            <a:ext cx="2954589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Feita fora da implementação. Removeu variáveis de calendário que extrapolavam e incluiu feriados ausentes, como o Carnaval.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682" y="1984375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pic>
        <p:nvPicPr>
          <p:cNvPr id="13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587" y="2240285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587" y="2646685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rodadas, declaradas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1587" y="2992127"/>
            <a:ext cx="2954589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rodada 1 usou junho como diagnóstico. A regra de decisão foi fixada depois dela e antes da rodada final, que é a daqui.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4429758"/>
            <a:ext cx="108833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Limites:</a:t>
            </a: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8 meses, sem ano completo · cada data especial vista uma vez · dezembro medido em 4 semanas com pouco treino, erro ~50% acima; novembro e a Black Friday sem avaliação causal possível · sem margem, estoque nem calendário de campanhas · Copa do Mundo em junho fora da base.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Apêndice A3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9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APÊNDICE A4 · PERGUNTAS DIFÍCEIS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0311"/>
            <a:ext cx="10883392" cy="411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9"/>
              </a:lnSpc>
              <a:buNone/>
            </a:pPr>
            <a:r>
              <a:rPr lang="en-US" sz="279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Respostas curtas para as perguntas prováveis</a:t>
            </a:r>
            <a:endParaRPr lang="en-US" sz="27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99905"/>
          <a:ext cx="10556240" cy="4042093"/>
        </p:xfrm>
        <a:graphic>
          <a:graphicData uri="http://schemas.openxmlformats.org/drawingml/2006/table">
            <a:tbl>
              <a:tblPr/>
              <a:tblGrid>
                <a:gridCol w="3166872"/>
                <a:gridCol w="7389368"/>
              </a:tblGrid>
              <a:tr h="319326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Pergunta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Resposta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51395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Testou ARIMA ou ETS?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Sim, os três: ETS, SARIMA e SARIMAX, nas mesmas semanas. O SARIMA ganha no total da semana. Não o escolhi porque prevê 8,8% abaixo da venda, sempre.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95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XGBoost ganhou em junho. Por que não ele?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Empate nas 16 semanas, com o intervalo da diferença cruzando zero. Desempatei por engenharia: categóricas nativas e retreino mais rápido.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95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 que contrariar a própria regra?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regra só detectaria diferença de 19 pontos com 5 semanas. O empate que ela declara é falta de medida. Troquei por não inferioridade, viés e explicabilidade, com gatilho de reversão.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03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Junho era mesmo um teste virgem?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Não. Usei junho uma vez na rodada 1, como diagnóstico; depois corrigi o pipeline e fixei a regra. Por isso apoio a conclusão nas 16 semanas.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faixa diária cobre 90%, não 80%.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É conservadora: o dia isolado é muito incerto. Para operar, use a semana e reserve a folga de 28,7%.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 A/B mede 0,1% da receita?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Não. Mede um KPI intermediário detectável, com a receita por impressão como guarda.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03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 a Black Friday e o Natal?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Natal foi avaliado: estendi o walk-forward para trás, e dezembro mede 4 semanas com 32 a 53 dias de treino, erro ~50% acima do das 16 semanas. A Black Friday não tem origem causal na base: precisaria treinar com 25 dias.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033"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 pouco dado, o clássico não ganha da árvore?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33"/>
                        </a:lnSpc>
                        <a:buNone/>
                      </a:pPr>
                      <a:r>
                        <a:rPr lang="en-US" sz="1095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Naquele trecho de dezembro, ganha: SARIMAX 15,2% contra 32,8% do LightGBM. São 4 semanas, sem IC e com hiperparâmetros ajustados depois — mas é exatamente por isso que medi os clássicos em vez de descartá-los.</a:t>
                      </a:r>
                      <a:endParaRPr lang="en-US" sz="109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673" marR="48673" marT="48673" marB="48673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Especialista de Dados I · Apêndice A4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APÊNDICE A5 · METODOLOGIA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Como identifiquei e tratei as três armadilhas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00860"/>
          <a:ext cx="10556240" cy="2698750"/>
        </p:xfrm>
        <a:graphic>
          <a:graphicData uri="http://schemas.openxmlformats.org/drawingml/2006/table">
            <a:tbl>
              <a:tblPr/>
              <a:tblGrid>
                <a:gridCol w="2111248"/>
                <a:gridCol w="3589122"/>
                <a:gridCol w="2744622"/>
                <a:gridCol w="2111248"/>
              </a:tblGrid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Armadilha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identifiquei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Tratamento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Volume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Categoria ilegível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Valor sem nenhum caractere alfabético (um número no lugar do nome). Teste direto no valor, sem dicionário de categorias.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Agrupada como “Não mapeada”: entra no total, sai da análise por categoria.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5.341 linhas · 5,97% da receita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Receita negativa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Sinal negativo em receita_aprovada. O estorno é somado por linha original, antes de agrupar a categoria ilegível.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Tratada como estorno: fica na receita líquida e é reportada à parte.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3.513 linhas · −R$ 21,05 mi · 4,3% da receita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27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Combinações ausentes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Universo teórico = 5.808 horas × 2 canais × 8 categorias válidas = 92.928 chaves. Comparado com as chaves distintas observadas.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São vendas zero (madrugada, categorias pequenas): grade completada com zeros e a linha marcada como imputada.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grade 90,63% preenchida · 9,4% ausentes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5975" y="4680595"/>
            <a:ext cx="5187950" cy="923290"/>
          </a:xfrm>
          <a:prstGeom prst="roundRect">
            <a:avLst>
              <a:gd name="adj" fmla="val 790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  <p:txBody>
          <a:bodyPr wrap="square" lIns="120217" tIns="120217" rIns="0" bIns="9481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a base não tem de problema:</a:t>
            </a: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zero nulos, zero duplicatas na chave hora × canal × categoria e zero horas faltando entre 01/11/2025 e 30/06/2026.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88075" y="4680595"/>
            <a:ext cx="5187950" cy="923290"/>
          </a:xfrm>
          <a:prstGeom prst="roundRect">
            <a:avLst>
              <a:gd name="adj" fmla="val 790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  <p:txBody>
          <a:bodyPr wrap="square" lIns="120217" tIns="120217" rIns="0" bIns="94817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Premissa declarada:</a:t>
            </a: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tratei a receita como líquida do desconto. A outra leitura produz taxas de desconto acima de 100% em algumas categorias.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89.566 linhas no bruto · tudo reproduzível em </a:t>
            </a:r>
            <a:r>
              <a:rPr lang="en-US" sz="1200" i="1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src/data_loader.py</a:t>
            </a: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funções </a:t>
            </a:r>
            <a:r>
              <a:rPr lang="en-US" sz="1200" i="1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</a:t>
            </a: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i="1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complete_grid</a:t>
            </a: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200" i="1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quality_report</a:t>
            </a: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Apêndice A5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 MÉDIO DE VENDA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70"/>
            <a:ext cx="113792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Perfume é o carro-chefe; presente é o item mais caro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40560"/>
          <a:ext cx="10556240" cy="2498090"/>
        </p:xfrm>
        <a:graphic>
          <a:graphicData uri="http://schemas.openxmlformats.org/drawingml/2006/table">
            <a:tbl>
              <a:tblPr/>
              <a:tblGrid>
                <a:gridCol w="3589122"/>
                <a:gridCol w="1688998"/>
                <a:gridCol w="1688998"/>
                <a:gridCol w="1794561"/>
                <a:gridCol w="1794561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receita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Preço/item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Desconto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Perfumaria masculina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R$ 109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R$ 75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Perfumaria feminina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R$ 83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R$ 56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Corpo e banho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R$ 56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R$ 34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Perfumes de entrada e desodorantes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R$ 62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R$ 42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29%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Gifts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R$ 127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R$ 104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Maquiagem, cabelos, facial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R$ 27–53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R$ 19–29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44–65%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725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canal: Site com ticket de R$ 82 e 40% de desconto; App com R$ 73 e 45%. O App já é 79% da receita (72% em dezembro), e ~4% da receita é estornada todo mês, com ou sem campanha.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Categorias legíveis (94% da receita) · desconto = desconto ÷ preço cheio · Apêndice A6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NÚMERO À DECISÃO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Como a previsão vira decisão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91360"/>
          <a:ext cx="10556240" cy="2729230"/>
        </p:xfrm>
        <a:graphic>
          <a:graphicData uri="http://schemas.openxmlformats.org/drawingml/2006/table">
            <a:tbl>
              <a:tblPr/>
              <a:tblGrid>
                <a:gridCol w="2322373"/>
                <a:gridCol w="5066995"/>
                <a:gridCol w="3166872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Decisão apoiada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usar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B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Logística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Separação, transporte e frete da semana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semanal (erro 14%)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Atendimento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Escala de equipe por dia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diária com a faixa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Mídia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Reforçar investimento quando a previsão fica abaixo da meta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Previsão × meta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Disparos no início do mês e na semana antes das datas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Calendário e salário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Estoque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Perfumaria masculina antes dos Namorados; feminina antes do Dia das Mães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Curva das datas de presente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Comercial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Profundidade de desconto por categoria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8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Sensibilidade + margem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Propostas de uso a validar com cada área · Apêndice A7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EU FARIA DIFERENTE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6517"/>
            <a:ext cx="10883392" cy="42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limite não é o algoritmo, é um ano a mais de dado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36341"/>
            <a:ext cx="5200650" cy="1648777"/>
          </a:xfrm>
          <a:prstGeom prst="roundRect">
            <a:avLst>
              <a:gd name="adj" fmla="val 442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16051"/>
            <a:ext cx="4986477" cy="231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6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Novembro é inavaliável; dezembro, só em parte</a:t>
            </a:r>
            <a:endParaRPr lang="en-US" sz="1396" dirty="0"/>
          </a:p>
        </p:txBody>
      </p:sp>
      <p:sp>
        <p:nvSpPr>
          <p:cNvPr id="6" name="Text 4"/>
          <p:cNvSpPr/>
          <p:nvPr/>
        </p:nvSpPr>
        <p:spPr>
          <a:xfrm>
            <a:off x="995680" y="2273300"/>
            <a:ext cx="4986477" cy="1057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66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 dezembro até onde a causalidade permite: 4 semanas, com 32 a 53 dias de treino, e o erro fica ~50% acima do das 16 semanas. Novembro não tem origem anterior na base — a semana da Black Friday teria 25 dias de histórico. Com um ano a mais, as duas viram semanas avaliadas.</a:t>
            </a:r>
            <a:endParaRPr lang="en-US" sz="1166" dirty="0"/>
          </a:p>
        </p:txBody>
      </p:sp>
      <p:sp>
        <p:nvSpPr>
          <p:cNvPr id="7" name="Shape 5"/>
          <p:cNvSpPr/>
          <p:nvPr/>
        </p:nvSpPr>
        <p:spPr>
          <a:xfrm>
            <a:off x="6175375" y="1836341"/>
            <a:ext cx="5200650" cy="1648777"/>
          </a:xfrm>
          <a:prstGeom prst="roundRect">
            <a:avLst>
              <a:gd name="adj" fmla="val 442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016051"/>
            <a:ext cx="49864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data vista duas vezes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280221"/>
            <a:ext cx="498647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causa do único erro grande que sobrou: os oito modelos subestimam semana de evento. Com a segunda ocorrência, deixa de ser extrapolação e passa a ser padrão.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643883"/>
            <a:ext cx="5200650" cy="1263650"/>
          </a:xfrm>
          <a:prstGeom prst="roundRect">
            <a:avLst>
              <a:gd name="adj" fmla="val 577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3823568"/>
            <a:ext cx="49864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Prophet passa a fazer sentido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5680" y="4087738"/>
            <a:ext cx="498647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Ficou fora por exigir um ciclo anual completo. Com ele, a sazonalidade do ano entra como componente, e Fourier com mais harmônicos deixa de decorar.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3643883"/>
            <a:ext cx="5200650" cy="1263650"/>
          </a:xfrm>
          <a:prstGeom prst="roundRect">
            <a:avLst>
              <a:gd name="adj" fmla="val 5779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823568"/>
            <a:ext cx="49864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Previsão por categoria e por hora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4087738"/>
            <a:ext cx="498647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menos de 500 pontos por canal, quebrar por categoria pulveriza o sinal. Com o dobro, cada categoria ganha série própria com significância.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5117083"/>
            <a:ext cx="10560050" cy="721757"/>
          </a:xfrm>
          <a:prstGeom prst="roundRect">
            <a:avLst>
              <a:gd name="adj" fmla="val 10118"/>
            </a:avLst>
          </a:prstGeom>
          <a:solidFill>
            <a:srgbClr val="EAE5DC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580" y="5258688"/>
            <a:ext cx="10585145" cy="463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5"/>
              </a:lnSpc>
              <a:buNone/>
            </a:pPr>
            <a:r>
              <a:rPr lang="en-US" sz="1246" b="1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não depende de esperar:</a:t>
            </a:r>
            <a:r>
              <a:rPr lang="en-US" sz="1246" dirty="0">
                <a:solidFill>
                  <a:srgbClr val="1E2A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margem, calendário de campanhas, mídia e ruptura. A empresa já tem esses dados, e eles transformariam as hipóteses de consumo da Seção 1 em respostas.</a:t>
            </a:r>
            <a:endParaRPr lang="en-US" sz="1246" dirty="0"/>
          </a:p>
        </p:txBody>
      </p:sp>
      <p:sp>
        <p:nvSpPr>
          <p:cNvPr id="18" name="Text 1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atual: 8 meses, 242 dias, cada data comemorativa observada uma única vez · Apêndice A8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ISSO VIRA PRODUÇÃO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7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Metade da produção já está no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95475"/>
            <a:ext cx="5180330" cy="2622550"/>
          </a:xfrm>
          <a:prstGeom prst="roundRect">
            <a:avLst>
              <a:gd name="adj" fmla="val 3753"/>
            </a:avLst>
          </a:prstGeom>
          <a:solidFill>
            <a:srgbClr val="FFFDF8"/>
          </a:solidFill>
          <a:ln w="6350">
            <a:solidFill>
              <a:srgbClr val="DE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25985"/>
            <a:ext cx="486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5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está pronto, e rodou 27 vezes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8555" y="2456185"/>
            <a:ext cx="4761205" cy="163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Retreino semanal: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validação é a própria cadência de produção — retreina com tudo até a data e prevê 7 dias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de vazamento automático: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corrompe todo dado posterior à data de previsão e roda dentro da suíte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Reprodutibilidade: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seeds fixas e média entre seeds, para a previsão não mudar de execução para execução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Gatilho de reversão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fixado antes de ver as datas de teste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02680" y="1892300"/>
            <a:ext cx="5176520" cy="2628900"/>
          </a:xfrm>
          <a:prstGeom prst="roundRect">
            <a:avLst>
              <a:gd name="adj" fmla="val 3865"/>
            </a:avLst>
          </a:prstGeom>
          <a:solidFill>
            <a:srgbClr val="EAE5DC"/>
          </a:solidFill>
          <a:ln/>
        </p:spPr>
      </p:sp>
      <p:sp>
        <p:nvSpPr>
          <p:cNvPr id="8" name="Text 6"/>
          <p:cNvSpPr/>
          <p:nvPr/>
        </p:nvSpPr>
        <p:spPr>
          <a:xfrm>
            <a:off x="6431280" y="2120900"/>
            <a:ext cx="486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falta, e eu não construí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3355" y="2451100"/>
            <a:ext cx="4761205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Agendamento: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hoje é um comando; em produção é tarefa semanal com alerta de falha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Monitoramento: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alerta se o erro semanal passar da folga de 28,7% em duas semanas seguidas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Entrega: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previsão semanal e faixa na mão da logística e do CRM, não num notebook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b="1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por antecedência:</a:t>
            </a:r>
            <a:r>
              <a:rPr lang="en-US" sz="1250" dirty="0">
                <a:solidFill>
                  <a:srgbClr val="3D48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erro vai de 21,0% em D+1 a 28,6% em D+7; os primeiros dias merecem modelo próprio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Coluna da esquerda: no repositório, com testes · coluna da direita: proposta, com custo a estimar · Apêndice A9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 Especialista de Dados I">
  <a:themeElements>
    <a:clrScheme name="Case Especialista de Dados I">
      <a:dk1>
        <a:srgbClr val="1E2A2F"/>
      </a:dk1>
      <a:lt1>
        <a:srgbClr val="F5F2EC"/>
      </a:lt1>
      <a:dk2>
        <a:srgbClr val="545C5E"/>
      </a:dk2>
      <a:lt2>
        <a:srgbClr val="E0DED9"/>
      </a:lt2>
      <a:accent1>
        <a:srgbClr val="B5541C"/>
      </a:accent1>
      <a:accent2>
        <a:srgbClr val="2F5D8A"/>
      </a:accent2>
      <a:accent3>
        <a:srgbClr val="E8A06A"/>
      </a:accent3>
      <a:accent4>
        <a:srgbClr val="3D4852"/>
      </a:accent4>
      <a:accent5>
        <a:srgbClr val="6B7680"/>
      </a:accent5>
      <a:accent6>
        <a:srgbClr val="C9D3D6"/>
      </a:accent6>
      <a:hlink>
        <a:srgbClr val="0563C1"/>
      </a:hlink>
      <a:folHlink>
        <a:srgbClr val="954F72"/>
      </a:folHlink>
    </a:clrScheme>
    <a:fontScheme name="Case Especialista de Dados 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Especialista de Dados I</dc:title>
  <dc:subject/>
  <dc:creator/>
  <cp:lastModifiedBy/>
  <cp:revision>1</cp:revision>
  <dcterms:created xsi:type="dcterms:W3CDTF">2026-10-08T02:04:34Z</dcterms:created>
  <dcterms:modified xsi:type="dcterms:W3CDTF">2026-10-08T02:04:34Z</dcterms:modified>
</cp:coreProperties>
</file>